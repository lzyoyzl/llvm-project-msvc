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57400"/>
            <a:ext cx="10911535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Clang 支持编译超过 4GB 源文件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1091153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根因分析 · 方案设计 · 兼容性与测试策略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1091153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技术汇报 / Internal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981425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Clang &gt;4GB 单文件编译支持（基于补丁集）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02975" y="6473952"/>
            <a:ext cx="5486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汇报提纲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78408"/>
            <a:ext cx="1091153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10911535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问题背景与复现现象（4GiB 人为上限）</a:t>
            </a:r>
            <a:endParaRPr lang="en-US" sz="1800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>
              <a:spcAft>
                <a:spcPts val="450"/>
              </a:spcAft>
              <a:buSzPct val="100000"/>
              <a:buChar char="•"/>
            </a:pPr>
            <a:endParaRPr lang="en-US" sz="1800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根因拆解：SourceManager </a:t>
            </a:r>
            <a:r>
              <a:rPr lang="zh-CN" altLang="en-US" sz="18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</a:t>
            </a:r>
            <a:r>
              <a:rPr lang="en-US" sz="18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门槛</a:t>
            </a:r>
            <a:r>
              <a:rPr lang="zh-CN" altLang="en-US" sz="18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</a:t>
            </a:r>
            <a:r>
              <a:rPr lang="en-US" sz="18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+ SourceLocation 32-bit 编码耦合</a:t>
            </a:r>
            <a:endParaRPr lang="en-US" sz="1800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>
              <a:spcAft>
                <a:spcPts val="450"/>
              </a:spcAft>
              <a:buSzPct val="100000"/>
              <a:buChar char="•"/>
            </a:pPr>
            <a:endParaRPr lang="en-US" sz="1800" dirty="0"/>
          </a:p>
          <a:p>
            <a:pPr marL="228600" indent="-2286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解决方案：全链路 64-bit 化与关键实现改动</a:t>
            </a:r>
            <a:endParaRPr lang="en-US" sz="1800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>
              <a:spcAft>
                <a:spcPts val="450"/>
              </a:spcAft>
              <a:buSzPct val="100000"/>
              <a:buChar char="•"/>
            </a:pPr>
            <a:endParaRPr lang="en-US" sz="1800" dirty="0"/>
          </a:p>
          <a:p>
            <a:pPr marL="228600" indent="-2286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生态影响与风险控制（ABI / 序列化 / 工具链 / 可移植性）</a:t>
            </a:r>
            <a:endParaRPr lang="en-US" sz="1800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>
              <a:spcAft>
                <a:spcPts val="450"/>
              </a:spcAft>
              <a:buSzPct val="100000"/>
              <a:buChar char="•"/>
            </a:pPr>
            <a:endParaRPr lang="en-US" sz="1800" dirty="0"/>
          </a:p>
          <a:p>
            <a:pPr marL="228600" indent="-22860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测试与验证路径（功能、单测、集成、回归）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73952"/>
            <a:ext cx="981425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资料来源：项目技术文档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02975" y="6473952"/>
            <a:ext cx="5486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背景与目标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78408"/>
            <a:ext cx="1091153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10911535" cy="4937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15900" indent="-215900">
              <a:spcAft>
                <a:spcPts val="425"/>
              </a:spcAft>
              <a:buSzPct val="100000"/>
              <a:buChar char="•"/>
            </a:pPr>
            <a:r>
              <a:rPr lang="en-US" sz="17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现象：Clang 在加载单个源文件大小 ≥ 4GiB 时直接失败</a:t>
            </a:r>
            <a:endParaRPr lang="en-US" sz="1700" b="1" dirty="0"/>
          </a:p>
          <a:p>
            <a:pPr indent="457200">
              <a:spcAft>
                <a:spcPts val="425"/>
              </a:spcAft>
              <a:buSzPct val="100000"/>
              <a:buNone/>
            </a:pPr>
            <a:r>
              <a:rPr lang="en-US" sz="17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报错：err_file_too_large（读取阶段即终止）</a:t>
            </a:r>
            <a:endParaRPr lang="en-US" sz="1700" dirty="0"/>
          </a:p>
          <a:p>
            <a:pPr indent="457200">
              <a:spcAft>
                <a:spcPts val="425"/>
              </a:spcAft>
              <a:buSzPct val="100000"/>
              <a:buNone/>
            </a:pPr>
            <a:r>
              <a:rPr lang="en-US" sz="17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与 OS 是否支持大文件无关：系统可 mmap/读取，但 Clang 主动拒绝</a:t>
            </a:r>
            <a:endParaRPr lang="en-US" sz="1700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indent="457200">
              <a:spcAft>
                <a:spcPts val="425"/>
              </a:spcAft>
              <a:buSzPct val="100000"/>
              <a:buNone/>
            </a:pPr>
            <a:endParaRPr lang="en-US" sz="1700" dirty="0"/>
          </a:p>
          <a:p>
            <a:pPr marL="215900" indent="-215900">
              <a:spcAft>
                <a:spcPts val="425"/>
              </a:spcAft>
              <a:buSzPct val="100000"/>
              <a:buChar char="•"/>
            </a:pPr>
            <a:r>
              <a:rPr lang="en-US" sz="17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目标：移除 4GiB 人为上限，支持编译超大单文件（示例 8GB）</a:t>
            </a:r>
            <a:endParaRPr lang="en-US" sz="1700" b="1" dirty="0"/>
          </a:p>
          <a:p>
            <a:pPr indent="457200">
              <a:spcAft>
                <a:spcPts val="425"/>
              </a:spcAft>
              <a:buSzPct val="100000"/>
              <a:buNone/>
            </a:pPr>
            <a:r>
              <a:rPr lang="en-US" sz="17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扩展内部“源码位置/偏移”表达空间：32-bit → 64-bit</a:t>
            </a:r>
            <a:endParaRPr lang="en-US" sz="1700" dirty="0"/>
          </a:p>
          <a:p>
            <a:pPr indent="457200">
              <a:spcAft>
                <a:spcPts val="425"/>
              </a:spcAft>
              <a:buSzPct val="100000"/>
              <a:buNone/>
            </a:pPr>
            <a:r>
              <a:rPr lang="en-US" sz="17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修复 SourceManager 的硬门槛与后续溢出风险点</a:t>
            </a:r>
            <a:endParaRPr lang="en-US" sz="1700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indent="457200">
              <a:spcAft>
                <a:spcPts val="425"/>
              </a:spcAft>
              <a:buSzPct val="100000"/>
              <a:buNone/>
            </a:pPr>
            <a:endParaRPr lang="en-US" sz="1700" dirty="0"/>
          </a:p>
          <a:p>
            <a:pPr marL="215900" indent="-215900">
              <a:spcAft>
                <a:spcPts val="425"/>
              </a:spcAft>
              <a:buSzPct val="100000"/>
              <a:buChar char="•"/>
            </a:pPr>
            <a:r>
              <a:rPr lang="en-US" sz="17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约束：属于 ABI 级改造，需要系统性风险评估与测试</a:t>
            </a:r>
            <a:endParaRPr lang="en-US" sz="1700" b="1" dirty="0"/>
          </a:p>
        </p:txBody>
      </p:sp>
      <p:sp>
        <p:nvSpPr>
          <p:cNvPr id="5" name="Shape 3"/>
          <p:cNvSpPr/>
          <p:nvPr/>
        </p:nvSpPr>
        <p:spPr>
          <a:xfrm>
            <a:off x="640080" y="4754880"/>
            <a:ext cx="10911535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2805" y="4919472"/>
            <a:ext cx="10362895" cy="493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核心思路</a:t>
            </a:r>
            <a:r>
              <a:rPr lang="en-US" sz="16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sz="16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 SourceLocation 与相关 offset/length 类型从 32-bit 扩展到 64-bit，并让 SourceManager 能为 &gt;4GiB 文件分配稳定的地址空间。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473952"/>
            <a:ext cx="981425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背景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002975" y="6473952"/>
            <a:ext cx="5486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直接触发点：SourceManager 文件大小检查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78408"/>
            <a:ext cx="1091153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10911535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上游在加载 MemoryBuffer 后显式拒绝 BufferSize ≥ UINT_MAX（≈ 4GiB）</a:t>
            </a:r>
            <a:endParaRPr lang="en-US" sz="1600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因此失败发生在 Lexer/Parser 之前：属于“读入阶段硬门槛”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0911535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679192"/>
            <a:ext cx="10454335" cy="12252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(Buffer-&gt;getBufferSize() &gt;= std::numeric_limits&lt;unsigned&gt;::max())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Diag.Report(Loc, diag::err_file_too_large) &lt;&lt; FileName;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return std::nullopt;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10911535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462272"/>
            <a:ext cx="10362895" cy="6309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重要</a:t>
            </a:r>
            <a:r>
              <a:rPr lang="en-US" sz="16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：仅移除该判断不足以“真正支持 &gt;4GiB”，因为后续大量 offset 仍以 unsigned（32-bit）存储，会在 4GiB 附近溢出。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473952"/>
            <a:ext cx="981425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根因（触发点）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02975" y="6473952"/>
            <a:ext cx="5486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深层根因：SourceLocation 32-bit 编码与全局耦合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78408"/>
            <a:ext cx="1091153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5669280" cy="5120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SourceLocation 采用“raw encoding”表示位置；上游语义长期假设为 32-bit</a:t>
            </a:r>
            <a:endParaRPr lang="en-US" sz="1600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SourceManager 维护“source location address space”</a:t>
            </a:r>
            <a:endParaRPr lang="en-US" sz="1600" dirty="0"/>
          </a:p>
          <a:p>
            <a:pPr indent="457200">
              <a:spcAft>
                <a:spcPts val="400"/>
              </a:spcAft>
              <a:buSzPct val="100000"/>
              <a:buNone/>
            </a:pPr>
            <a:r>
              <a:rPr lang="en-US" sz="16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文件 / 宏展开 / include 栈等都会占用地址空间区间</a:t>
            </a:r>
            <a:endParaRPr lang="en-US" sz="1600" dirty="0"/>
          </a:p>
          <a:p>
            <a:pPr indent="457200">
              <a:spcAft>
                <a:spcPts val="400"/>
              </a:spcAft>
              <a:buSzPct val="100000"/>
              <a:buNone/>
            </a:pPr>
            <a:r>
              <a:rPr lang="en-US" sz="16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为避免溢出，上游把文件大小约束嵌入加载流程</a:t>
            </a:r>
            <a:endParaRPr lang="en-US" sz="1600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406400" indent="-4064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marL="406400" indent="-4064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marL="406400" indent="-4064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耦合面极广：词法、预处理、诊断、重写器、格式化、序列化、工具链…</a:t>
            </a:r>
            <a:endParaRPr lang="en-US" sz="16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6492240" y="1417320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6720840" y="1572768"/>
            <a:ext cx="4480560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FileManager / MemoryBuffer</a:t>
            </a:r>
            <a:endParaRPr lang="en-US" sz="1700" dirty="0"/>
          </a:p>
        </p:txBody>
      </p:sp>
      <p:sp>
        <p:nvSpPr>
          <p:cNvPr id="7" name="Shape 5"/>
          <p:cNvSpPr/>
          <p:nvPr>
            <p:custDataLst>
              <p:tags r:id="rId3"/>
            </p:custDataLst>
          </p:nvPr>
        </p:nvSpPr>
        <p:spPr>
          <a:xfrm>
            <a:off x="8961120" y="2075688"/>
            <a:ext cx="0" cy="320040"/>
          </a:xfrm>
          <a:prstGeom prst="line">
            <a:avLst/>
          </a:prstGeom>
          <a:noFill/>
          <a:ln w="25400">
            <a:solidFill>
              <a:srgbClr val="0F4C8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6492240" y="2395728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6597015" y="2486660"/>
            <a:ext cx="5158740" cy="4756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SourceManager：分配 FileID / SLocEntry</a:t>
            </a:r>
            <a:endParaRPr lang="en-US" sz="1700" dirty="0"/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8961120" y="3054096"/>
            <a:ext cx="0" cy="320040"/>
          </a:xfrm>
          <a:prstGeom prst="line">
            <a:avLst/>
          </a:prstGeom>
          <a:noFill/>
          <a:ln w="25400">
            <a:solidFill>
              <a:srgbClr val="0F4C8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6492240" y="3374136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6492240" y="3497580"/>
            <a:ext cx="5471795" cy="4756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Lexer/Parser：Token/AST 携带 SourceLocation</a:t>
            </a:r>
            <a:endParaRPr lang="en-US" sz="1700" dirty="0"/>
          </a:p>
        </p:txBody>
      </p:sp>
      <p:sp>
        <p:nvSpPr>
          <p:cNvPr id="13" name="Shape 11"/>
          <p:cNvSpPr/>
          <p:nvPr>
            <p:custDataLst>
              <p:tags r:id="rId9"/>
            </p:custDataLst>
          </p:nvPr>
        </p:nvSpPr>
        <p:spPr>
          <a:xfrm>
            <a:off x="8961120" y="4032504"/>
            <a:ext cx="0" cy="320040"/>
          </a:xfrm>
          <a:prstGeom prst="line">
            <a:avLst/>
          </a:prstGeom>
          <a:noFill/>
          <a:ln w="25400">
            <a:solidFill>
              <a:srgbClr val="0F4C8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6492240" y="4352544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6720840" y="4507992"/>
            <a:ext cx="4480560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Diagnostics / Rewriter / Tools</a:t>
            </a:r>
            <a:endParaRPr lang="en-US" sz="1700" dirty="0"/>
          </a:p>
        </p:txBody>
      </p:sp>
      <p:sp>
        <p:nvSpPr>
          <p:cNvPr id="16" name="Shape 14"/>
          <p:cNvSpPr/>
          <p:nvPr>
            <p:custDataLst>
              <p:tags r:id="rId12"/>
            </p:custDataLst>
          </p:nvPr>
        </p:nvSpPr>
        <p:spPr>
          <a:xfrm>
            <a:off x="8961120" y="5010912"/>
            <a:ext cx="0" cy="320040"/>
          </a:xfrm>
          <a:prstGeom prst="line">
            <a:avLst/>
          </a:prstGeom>
          <a:noFill/>
          <a:ln w="25400">
            <a:solidFill>
              <a:srgbClr val="0F4C8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6492240" y="5330952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6720840" y="5486400"/>
            <a:ext cx="4480560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PCH/Modules/AST：序列化编码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92240" y="101473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C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“32-bit 假设”穿透全链路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6473952"/>
            <a:ext cx="981425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根因（耦合）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02975" y="6473952"/>
            <a:ext cx="5486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解决方案总览：64-bit 化主干路径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78408"/>
            <a:ext cx="1091153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640080" y="1325880"/>
            <a:ext cx="3454298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640080" y="1325880"/>
            <a:ext cx="3454298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640080" y="1435608"/>
            <a:ext cx="345429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C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改什么</a:t>
            </a: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644525" y="2057400"/>
            <a:ext cx="329438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spcAft>
                <a:spcPts val="340"/>
              </a:spcAft>
              <a:buSzPct val="100000"/>
              <a:buChar char="•"/>
            </a:pPr>
            <a:r>
              <a:rPr lang="en-US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SourceLocation::UIntTy → uint64_t</a:t>
            </a:r>
            <a:endParaRPr lang="en-US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171450" indent="-171450">
              <a:spcAft>
                <a:spcPts val="340"/>
              </a:spcAft>
              <a:buSzPct val="100000"/>
              <a:buChar char="•"/>
            </a:pPr>
            <a:endParaRPr lang="en-US" dirty="0"/>
          </a:p>
          <a:p>
            <a:pPr marL="171450" indent="-171450">
              <a:spcAft>
                <a:spcPts val="340"/>
              </a:spcAft>
              <a:buSzPct val="100000"/>
              <a:buChar char="•"/>
            </a:pPr>
            <a:r>
              <a:rPr lang="en-US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FileOffset/TokenOffset 等偏移类型扩容</a:t>
            </a:r>
            <a:endParaRPr lang="en-US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171450" indent="-171450">
              <a:spcAft>
                <a:spcPts val="340"/>
              </a:spcAft>
              <a:buSzPct val="100000"/>
              <a:buChar char="•"/>
            </a:pPr>
            <a:endParaRPr lang="en-US" dirty="0"/>
          </a:p>
          <a:p>
            <a:pPr marL="171450" indent="-171450">
              <a:spcAft>
                <a:spcPts val="340"/>
              </a:spcAft>
              <a:buSzPct val="100000"/>
              <a:buChar char="•"/>
            </a:pPr>
            <a:r>
              <a:rPr lang="en-US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SourceManager 边界检查与累加逻辑修正</a:t>
            </a:r>
            <a:endParaRPr lang="en-US" dirty="0"/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4368698" y="1325880"/>
            <a:ext cx="3454298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368698" y="1325880"/>
            <a:ext cx="3454298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4368698" y="1435608"/>
            <a:ext cx="345429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C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怎么改</a:t>
            </a:r>
            <a:endParaRPr lang="en-US" sz="1600" dirty="0"/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4688738" y="2057400"/>
            <a:ext cx="2814218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spcAft>
                <a:spcPts val="340"/>
              </a:spcAft>
              <a:buSzPct val="100000"/>
              <a:buChar char="•"/>
            </a:pPr>
            <a:r>
              <a:rPr lang="en-US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从“核心类型”切入，逐步向下游扩散修复</a:t>
            </a:r>
            <a:endParaRPr lang="en-US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171450" indent="-171450">
              <a:spcAft>
                <a:spcPts val="340"/>
              </a:spcAft>
              <a:buSzPct val="100000"/>
              <a:buChar char="•"/>
            </a:pPr>
            <a:endParaRPr lang="en-US" dirty="0"/>
          </a:p>
          <a:p>
            <a:pPr marL="171450" indent="-171450">
              <a:spcAft>
                <a:spcPts val="340"/>
              </a:spcAft>
              <a:buSzPct val="100000"/>
              <a:buChar char="•"/>
            </a:pPr>
            <a:r>
              <a:rPr lang="en-US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处理溢出/符号问题：偏移计算、长度校验</a:t>
            </a:r>
            <a:endParaRPr lang="en-US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171450" indent="-171450">
              <a:spcAft>
                <a:spcPts val="340"/>
              </a:spcAft>
              <a:buSzPct val="100000"/>
              <a:buChar char="•"/>
            </a:pPr>
            <a:endParaRPr lang="en-US" dirty="0"/>
          </a:p>
          <a:p>
            <a:pPr marL="171450" indent="-171450">
              <a:spcAft>
                <a:spcPts val="340"/>
              </a:spcAft>
              <a:buSzPct val="100000"/>
              <a:buChar char="•"/>
            </a:pPr>
            <a:r>
              <a:rPr lang="en-US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序列化侧尝试更大容器（__int128）后回退以保可移植性</a:t>
            </a:r>
            <a:endParaRPr lang="en-US" dirty="0"/>
          </a:p>
        </p:txBody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8097317" y="1325880"/>
            <a:ext cx="3454298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8097317" y="1325880"/>
            <a:ext cx="3454298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8097317" y="1435608"/>
            <a:ext cx="345429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0F4C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</a:t>
            </a:r>
            <a:r>
              <a:rPr lang="en-US" sz="1600" b="1" dirty="0">
                <a:solidFill>
                  <a:srgbClr val="0F4C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达到什么</a:t>
            </a:r>
            <a:endParaRPr lang="en-US" sz="16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8417357" y="2057400"/>
            <a:ext cx="2814218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spcAft>
                <a:spcPts val="340"/>
              </a:spcAft>
              <a:buSzPct val="100000"/>
              <a:buChar char="•"/>
            </a:pPr>
            <a:r>
              <a:rPr lang="en-US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解除 4GiB 人为上限，允许加载更大源文件</a:t>
            </a:r>
            <a:endParaRPr lang="en-US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171450" indent="-171450">
              <a:spcAft>
                <a:spcPts val="340"/>
              </a:spcAft>
              <a:buSzPct val="100000"/>
              <a:buChar char="•"/>
            </a:pPr>
            <a:endParaRPr lang="en-US" dirty="0"/>
          </a:p>
          <a:p>
            <a:pPr marL="171450" indent="-171450">
              <a:spcAft>
                <a:spcPts val="340"/>
              </a:spcAft>
              <a:buSzPct val="100000"/>
              <a:buChar char="•"/>
            </a:pPr>
            <a:r>
              <a:rPr lang="en-US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保证 Lexer/Parser/工具链在大偏移下稳定</a:t>
            </a:r>
            <a:endParaRPr lang="en-US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171450" indent="-171450">
              <a:spcAft>
                <a:spcPts val="340"/>
              </a:spcAft>
              <a:buSzPct val="100000"/>
              <a:buChar char="•"/>
            </a:pPr>
            <a:endParaRPr lang="en-US" dirty="0"/>
          </a:p>
          <a:p>
            <a:pPr marL="171450" indent="-171450">
              <a:spcAft>
                <a:spcPts val="340"/>
              </a:spcAft>
              <a:buSzPct val="100000"/>
              <a:buChar char="•"/>
            </a:pPr>
            <a:r>
              <a:rPr lang="en-US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提供超大文件生成与验证流程（示例 8GB）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473952"/>
            <a:ext cx="981425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方案概述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002975" y="6473952"/>
            <a:ext cx="5486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部分</a:t>
            </a:r>
            <a:r>
              <a:rPr lang="en-US" sz="28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补丁集概览（与 &gt;4GB 支持强相关）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78408"/>
            <a:ext cx="1091153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40080" y="1234440"/>
          <a:ext cx="10911840" cy="4790440"/>
        </p:xfrm>
        <a:graphic>
          <a:graphicData uri="http://schemas.openxmlformats.org/drawingml/2006/table">
            <a:tbl>
              <a:tblPr/>
              <a:tblGrid>
                <a:gridCol w="2834640"/>
                <a:gridCol w="4023360"/>
                <a:gridCol w="4053840"/>
              </a:tblGrid>
              <a:tr h="5568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补丁</a:t>
                      </a:r>
                      <a:endParaRPr lang="en-US" sz="1800" b="1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主要目标</a:t>
                      </a:r>
                      <a:endParaRPr lang="en-US" sz="1800" b="1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与 &gt;4GB 的关系</a:t>
                      </a:r>
                      <a:endParaRPr lang="en-US" sz="1800" b="1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0001-include.patch</a:t>
                      </a:r>
                      <a:endParaRPr lang="en-US" sz="1600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核心类型/接口 64-bit 化起点</a:t>
                      </a:r>
                      <a:endParaRPr lang="en-US" sz="1600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扩展 SourceLocation/offset 表达空间</a:t>
                      </a:r>
                      <a:endParaRPr lang="en-US" sz="1600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0003-core-file.patch</a:t>
                      </a:r>
                      <a:endParaRPr lang="en-US" sz="1600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SourceLocation.cpp / SourceManager.cpp 核心实现</a:t>
                      </a:r>
                      <a:endParaRPr lang="en-US" sz="1600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移除门槛并修复偏移计算与边界</a:t>
                      </a:r>
                      <a:endParaRPr lang="en-US" sz="1600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0004-new.patch</a:t>
                      </a:r>
                      <a:endParaRPr lang="en-US" sz="1600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部分字段回退/精简为 32-bit（如列号）</a:t>
                      </a:r>
                      <a:endParaRPr lang="en-US" sz="1600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缓解 ABI/内存冲击，保留必要 64-bit</a:t>
                      </a:r>
                      <a:endParaRPr lang="en-US" sz="1600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0007-*.patch</a:t>
                      </a:r>
                      <a:endParaRPr lang="en-US" sz="1600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序列化/工具链/format/rewrite/extra 扩散修复</a:t>
                      </a:r>
                      <a:endParaRPr lang="en-US" sz="1600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保证生态组件随 64-bit 偏移跑通</a:t>
                      </a:r>
                      <a:endParaRPr lang="en-US" sz="1600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7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0018-quick_edmit.patch</a:t>
                      </a:r>
                      <a:endParaRPr lang="en-US" sz="1600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SourceLocationEncoding：__int128 ↔ uint64_t</a:t>
                      </a:r>
                      <a:endParaRPr lang="en-US" sz="1600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兼容性/可移植性风险点集中处理</a:t>
                      </a:r>
                      <a:endParaRPr lang="en-US" sz="1600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7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0017-libclang.patch</a:t>
                      </a:r>
                      <a:endParaRPr lang="en-US" sz="1600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libclang C API 侧适配（保持 32-bit 容器）</a:t>
                      </a:r>
                      <a:endParaRPr lang="en-US" sz="1600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可能发生位置截断：内核能力与 API 不对齐</a:t>
                      </a:r>
                      <a:endParaRPr lang="en-US" sz="1600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8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0014-Readme-*.patch</a:t>
                      </a:r>
                      <a:endParaRPr lang="en-US" sz="1600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test_over_fourg 说明与生成/验证流程</a:t>
                      </a:r>
                      <a:endParaRPr lang="en-US" sz="1600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提供 8GB 级复现实验路径</a:t>
                      </a:r>
                      <a:endParaRPr lang="en-US" sz="1600" dirty="0">
                        <a:solidFill>
                          <a:srgbClr val="1F232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6473952"/>
            <a:ext cx="981425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补丁集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002975" y="6473952"/>
            <a:ext cx="5486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关键实现细节（选摘）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78408"/>
            <a:ext cx="1091153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10911535" cy="5120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SourceLocation：raw encoding / offset 相关类型升级为 uint64_t</a:t>
            </a:r>
            <a:endParaRPr lang="en-US" dirty="0"/>
          </a:p>
          <a:p>
            <a:pPr indent="457200">
              <a:spcAft>
                <a:spcPts val="400"/>
              </a:spcAft>
              <a:buSzPct val="100000"/>
              <a:buNone/>
            </a:pPr>
            <a:r>
              <a:rPr lang="en-US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向下游扩散：Lexer/PP/Rewriter/Tooling/Format/AST 等使用点同步修改</a:t>
            </a:r>
            <a:endParaRPr lang="en-US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406400" indent="-406400">
              <a:spcAft>
                <a:spcPts val="400"/>
              </a:spcAft>
              <a:buSzPct val="100000"/>
              <a:buChar char="•"/>
            </a:pPr>
            <a:endParaRPr lang="en-US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SourceManager：修正偏移累加与边界检查，避免 32-bit 溢出</a:t>
            </a:r>
            <a:endParaRPr lang="en-US" dirty="0"/>
          </a:p>
          <a:p>
            <a:pPr indent="457200">
              <a:spcAft>
                <a:spcPts val="400"/>
              </a:spcAft>
              <a:buSzPct val="100000"/>
              <a:buNone/>
            </a:pPr>
            <a:r>
              <a:rPr lang="en-US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允许为更大文件分配 SLocEntry 区间；与 file size 门槛逻辑对齐</a:t>
            </a:r>
            <a:endParaRPr lang="en-US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406400" indent="-406400">
              <a:spcAft>
                <a:spcPts val="400"/>
              </a:spcAft>
              <a:buSzPct val="100000"/>
              <a:buChar char="•"/>
            </a:pPr>
            <a:endParaRPr lang="en-US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序列化：编码容器曾尝试 unsigned __int128 以容纳“值+标记位”</a:t>
            </a:r>
            <a:endParaRPr lang="en-US" dirty="0"/>
          </a:p>
          <a:p>
            <a:pPr indent="457200">
              <a:spcAft>
                <a:spcPts val="400"/>
              </a:spcAft>
              <a:buSzPct val="100000"/>
              <a:buNone/>
            </a:pPr>
            <a:r>
              <a:rPr lang="en-US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为兼容性/可移植性快速回退到 uint64_t（提示 ABI/平台风险）</a:t>
            </a:r>
            <a:endParaRPr lang="en-US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406400" indent="-406400">
              <a:spcAft>
                <a:spcPts val="400"/>
              </a:spcAft>
              <a:buSzPct val="100000"/>
              <a:buChar char="•"/>
            </a:pPr>
            <a:endParaRPr lang="en-US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libclang：C API 结构保持 32-bit，通过显式截断/转换适配</a:t>
            </a:r>
            <a:endParaRPr lang="en-US" dirty="0"/>
          </a:p>
          <a:p>
            <a:pPr indent="457200">
              <a:spcAft>
                <a:spcPts val="400"/>
              </a:spcAft>
              <a:buSzPct val="100000"/>
              <a:buNone/>
            </a:pPr>
            <a:r>
              <a:rPr lang="en-US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结论：前端可编译 &gt;4GB，但 C API 可能无法无损表达位置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73952"/>
            <a:ext cx="981425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实现要点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02975" y="6473952"/>
            <a:ext cx="5486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兼容性影响与风险点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78408"/>
            <a:ext cx="1091153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5669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4C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1) ABI / 内存占用</a:t>
            </a:r>
            <a:endParaRPr lang="en-US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40080" y="1600200"/>
          <a:ext cx="5669280" cy="3018155"/>
        </p:xfrm>
        <a:graphic>
          <a:graphicData uri="http://schemas.openxmlformats.org/drawingml/2006/table">
            <a:tbl>
              <a:tblPr/>
              <a:tblGrid>
                <a:gridCol w="1841500"/>
                <a:gridCol w="1504315"/>
                <a:gridCol w="2323465"/>
              </a:tblGrid>
              <a:tr h="6286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类型/结构</a:t>
                      </a:r>
                      <a:endParaRPr 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典型尺寸变化</a:t>
                      </a:r>
                      <a:endParaRPr 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影响</a:t>
                      </a:r>
                      <a:endParaRPr 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62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SourceLocation</a:t>
                      </a:r>
                      <a:endParaRPr 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4B → 8B</a:t>
                      </a:r>
                      <a:endParaRPr 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Token/AST/诊断路径携带频繁，缓存压力上升</a:t>
                      </a:r>
                      <a:endParaRPr 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69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SourceRange</a:t>
                      </a:r>
                      <a:endParaRPr 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8B → 16B</a:t>
                      </a:r>
                      <a:endParaRPr 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AST/重写器常用，放大效应明显</a:t>
                      </a:r>
                      <a:endParaRPr 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62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Line table</a:t>
                      </a:r>
                      <a:endParaRPr 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unsigned→ uint64_t</a:t>
                      </a:r>
                      <a:endParaRPr 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大行数文件内存增长显著</a:t>
                      </a:r>
                      <a:endParaRPr 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234440"/>
            <a:ext cx="515081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4C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2) 生态/可移植性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400800" y="1600200"/>
            <a:ext cx="5150815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35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序列化格式（PCH/Modules/AST）编码容器变更：兼容性需评估</a:t>
            </a:r>
            <a:endParaRPr lang="en-US" sz="1600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177800" indent="-177800">
              <a:spcAft>
                <a:spcPts val="350"/>
              </a:spcAft>
              <a:buSzPct val="100000"/>
              <a:buChar char="•"/>
            </a:pPr>
            <a:endParaRPr lang="en-US" sz="1600" dirty="0"/>
          </a:p>
          <a:p>
            <a:pPr marL="177800" indent="-177800">
              <a:spcAft>
                <a:spcPts val="35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工具链一致性：clangd/clang-tidy/clang-format/extra 需跟随 64-bit 偏移</a:t>
            </a:r>
            <a:endParaRPr lang="en-US" sz="1600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177800" indent="-177800">
              <a:spcAft>
                <a:spcPts val="350"/>
              </a:spcAft>
              <a:buSzPct val="100000"/>
              <a:buChar char="•"/>
            </a:pPr>
            <a:endParaRPr lang="en-US" sz="1600" dirty="0"/>
          </a:p>
          <a:p>
            <a:pPr marL="177800" indent="-177800">
              <a:spcAft>
                <a:spcPts val="35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平台差异：__int128 支持、MSVC 生态、32-bit 用户态与 large-file 配置</a:t>
            </a:r>
            <a:endParaRPr lang="en-US" sz="1600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177800" indent="-177800">
              <a:spcAft>
                <a:spcPts val="350"/>
              </a:spcAft>
              <a:buSzPct val="100000"/>
              <a:buChar char="•"/>
            </a:pPr>
            <a:endParaRPr lang="en-US" sz="1600" dirty="0"/>
          </a:p>
          <a:p>
            <a:pPr marL="177800" indent="-177800">
              <a:spcAft>
                <a:spcPts val="35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libclang API 能力不对齐：位置可能截断，需明确支持边界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166360"/>
            <a:ext cx="10911535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5330952"/>
            <a:ext cx="10362895" cy="58521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风险控制建议：锁定目标平台/工具链版本；建立 ABI/序列化兼容策略；对关键组件做“偏移 &gt; 2^32”专项回归。</a:t>
            </a:r>
            <a:endParaRPr lang="en-US" sz="1600" dirty="0"/>
          </a:p>
        </p:txBody>
      </p:sp>
      <p:sp>
        <p:nvSpPr>
          <p:cNvPr id="5" name="Shape 7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6473952"/>
            <a:ext cx="981425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风险评估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002975" y="6473952"/>
            <a:ext cx="5486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测试与验证策略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78408"/>
            <a:ext cx="1091153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5852160" cy="5212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0500" indent="-190500">
              <a:spcAft>
                <a:spcPts val="375"/>
              </a:spcAft>
              <a:buSzPct val="100000"/>
              <a:buChar char="•"/>
            </a:pPr>
            <a:r>
              <a:rPr lang="en-US" sz="17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功能验证（高成本，离线/按需）</a:t>
            </a:r>
            <a:endParaRPr lang="en-US" sz="1700" b="1" dirty="0"/>
          </a:p>
          <a:p>
            <a:pPr indent="457200">
              <a:spcAft>
                <a:spcPts val="375"/>
              </a:spcAft>
              <a:buSzPct val="100000"/>
              <a:buNone/>
            </a:pPr>
            <a:r>
              <a:rPr lang="en-US" sz="17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生成 5–8GB 级语法有效源文件，比较补丁前后编译行为</a:t>
            </a:r>
            <a:endParaRPr lang="en-US" sz="1700" dirty="0"/>
          </a:p>
          <a:p>
            <a:pPr indent="457200">
              <a:spcAft>
                <a:spcPts val="375"/>
              </a:spcAft>
              <a:buSzPct val="100000"/>
              <a:buNone/>
            </a:pPr>
            <a:r>
              <a:rPr lang="en-US" sz="17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验证：不再触发 err_file_too_large，能够进入编译流程</a:t>
            </a:r>
            <a:endParaRPr lang="en-US" sz="1700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indent="457200">
              <a:spcAft>
                <a:spcPts val="375"/>
              </a:spcAft>
              <a:buSzPct val="100000"/>
              <a:buNone/>
            </a:pPr>
            <a:endParaRPr lang="en-US" sz="1700" dirty="0"/>
          </a:p>
          <a:p>
            <a:pPr marL="190500" indent="-190500">
              <a:spcAft>
                <a:spcPts val="375"/>
              </a:spcAft>
              <a:buSzPct val="100000"/>
              <a:buChar char="•"/>
            </a:pPr>
            <a:r>
              <a:rPr lang="en-US" sz="17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单元测试（低成本，CI 常开）</a:t>
            </a:r>
            <a:endParaRPr lang="en-US" sz="1700" b="1" dirty="0"/>
          </a:p>
          <a:p>
            <a:pPr indent="457200">
              <a:spcAft>
                <a:spcPts val="375"/>
              </a:spcAft>
              <a:buSzPct val="100000"/>
              <a:buNone/>
            </a:pPr>
            <a:r>
              <a:rPr lang="en-US" sz="17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SourceLocation 算术边界：2^32、2^32+N、接近 2^63 等</a:t>
            </a:r>
            <a:endParaRPr lang="en-US" sz="1700" dirty="0"/>
          </a:p>
          <a:p>
            <a:pPr indent="457200">
              <a:spcAft>
                <a:spcPts val="375"/>
              </a:spcAft>
              <a:buSzPct val="100000"/>
              <a:buNone/>
            </a:pPr>
            <a:r>
              <a:rPr lang="en-US" sz="17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SourceLocationEncoding encode/decode 往返正确性</a:t>
            </a:r>
            <a:endParaRPr lang="en-US" sz="1700" dirty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381000" indent="-381000">
              <a:spcAft>
                <a:spcPts val="375"/>
              </a:spcAft>
              <a:buSzPct val="100000"/>
              <a:buChar char="•"/>
            </a:pPr>
            <a:endParaRPr lang="en-US" sz="1700" b="1" dirty="0"/>
          </a:p>
          <a:p>
            <a:pPr marL="190500" indent="-190500">
              <a:spcAft>
                <a:spcPts val="375"/>
              </a:spcAft>
              <a:buSzPct val="100000"/>
              <a:buChar char="•"/>
            </a:pPr>
            <a:r>
              <a:rPr lang="en-US" sz="17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集成测试（中成本，CI 选择性）</a:t>
            </a:r>
            <a:endParaRPr lang="en-US" sz="1700" b="1" dirty="0"/>
          </a:p>
          <a:p>
            <a:pPr indent="457200">
              <a:spcAft>
                <a:spcPts val="375"/>
              </a:spcAft>
              <a:buSzPct val="100000"/>
              <a:buNone/>
            </a:pPr>
            <a:r>
              <a:rPr lang="en-US" sz="17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用“伪大 buffer size”的 MemoryBuffer 仅验证逻辑路径（不占用巨量内存/磁盘）</a:t>
            </a:r>
            <a:endParaRPr lang="en-US" sz="1700" dirty="0"/>
          </a:p>
          <a:p>
            <a:pPr indent="457200">
              <a:spcAft>
                <a:spcPts val="375"/>
              </a:spcAft>
              <a:buSzPct val="100000"/>
              <a:buNone/>
            </a:pPr>
            <a:r>
              <a:rPr lang="en-US" sz="17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宏展开/#line/include 混合场景的行列/偏移稳定性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92240" y="1234440"/>
            <a:ext cx="505937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4C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示例：生成 &gt;4GiB 源文件（节选）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92240" y="1645920"/>
            <a:ext cx="5059680" cy="172212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1810512"/>
            <a:ext cx="4602175" cy="11338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target_size = 5 * 1024**3  # 5 GiB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header = b'int main(){return 0;}\n/*\n'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 f.tell() &lt; target_size - len(footer):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f.write(chunk)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3886200"/>
            <a:ext cx="505968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4058920"/>
            <a:ext cx="4511040" cy="93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CI 现实：不建议在常规流水线中直接编译 4GB+ 文件；应通过“边界算术 + 伪大 buffer”覆盖关键路径。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473952"/>
            <a:ext cx="981425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002975" y="6473952"/>
            <a:ext cx="5486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0"/>
            <a:ext cx="10911535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1091153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讨论：上游合入策略 / 兼容性边界 / 性能与内存影响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981425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Q&amp;A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02975" y="6473952"/>
            <a:ext cx="5486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0,&quot;left&quot;:511.2,&quot;top&quot;:111.6,&quot;width&quot;:388.8}"/>
</p:tagLst>
</file>

<file path=ppt/tags/tag2.xml><?xml version="1.0" encoding="utf-8"?>
<p:tagLst xmlns:p="http://schemas.openxmlformats.org/presentationml/2006/main">
  <p:tag name="KSO_WM_DIAGRAM_VIRTUALLY_FRAME" val="{&quot;height&quot;:360,&quot;left&quot;:511.2,&quot;top&quot;:111.6,&quot;width&quot;:388.8}"/>
</p:tagLst>
</file>

<file path=ppt/tags/tag3.xml><?xml version="1.0" encoding="utf-8"?>
<p:tagLst xmlns:p="http://schemas.openxmlformats.org/presentationml/2006/main">
  <p:tag name="KSO_WM_DIAGRAM_VIRTUALLY_FRAME" val="{&quot;height&quot;:360,&quot;left&quot;:511.2,&quot;top&quot;:111.6,&quot;width&quot;:388.8}"/>
</p:tagLst>
</file>

<file path=ppt/tags/tag4.xml><?xml version="1.0" encoding="utf-8"?>
<p:tagLst xmlns:p="http://schemas.openxmlformats.org/presentationml/2006/main">
  <p:tag name="KSO_WM_DIAGRAM_VIRTUALLY_FRAME" val="{&quot;height&quot;:360,&quot;left&quot;:511.2,&quot;top&quot;:111.6,&quot;width&quot;:388.8}"/>
</p:tagLst>
</file>

<file path=ppt/tags/tag5.xml><?xml version="1.0" encoding="utf-8"?>
<p:tagLst xmlns:p="http://schemas.openxmlformats.org/presentationml/2006/main">
  <p:tag name="KSO_WM_DIAGRAM_VIRTUALLY_FRAME" val="{&quot;height&quot;:360,&quot;left&quot;:511.2,&quot;top&quot;:111.6,&quot;width&quot;:388.8}"/>
</p:tagLst>
</file>

<file path=ppt/tags/tag6.xml><?xml version="1.0" encoding="utf-8"?>
<p:tagLst xmlns:p="http://schemas.openxmlformats.org/presentationml/2006/main">
  <p:tag name="KSO_WM_DIAGRAM_VIRTUALLY_FRAME" val="{&quot;height&quot;:360,&quot;left&quot;:511.2,&quot;top&quot;:111.6,&quot;width&quot;:388.8}"/>
</p:tagLst>
</file>

<file path=ppt/tags/tag7.xml><?xml version="1.0" encoding="utf-8"?>
<p:tagLst xmlns:p="http://schemas.openxmlformats.org/presentationml/2006/main">
  <p:tag name="KSO_WM_DIAGRAM_VIRTUALLY_FRAME" val="{&quot;height&quot;:360,&quot;left&quot;:511.2,&quot;top&quot;:111.6,&quot;width&quot;:388.8}"/>
</p:tagLst>
</file>

<file path=ppt/tags/tag8.xml><?xml version="1.0" encoding="utf-8"?>
<p:tagLst xmlns:p="http://schemas.openxmlformats.org/presentationml/2006/main">
  <p:tag name="KSO_WM_DIAGRAM_VIRTUALLY_FRAME" val="{&quot;height&quot;:360,&quot;left&quot;:511.2,&quot;top&quot;:111.6,&quot;width&quot;:388.8}"/>
</p:tagLst>
</file>

<file path=ppt/tags/tag9.xml><?xml version="1.0" encoding="utf-8"?>
<p:tagLst xmlns:p="http://schemas.openxmlformats.org/presentationml/2006/main">
  <p:tag name="KSO_WM_DIAGRAM_VIRTUALLY_FRAME" val="{&quot;height&quot;:360,&quot;left&quot;:511.2,&quot;top&quot;:111.6,&quot;width&quot;:388.8}"/>
</p:tagLst>
</file>

<file path=ppt/tags/tag10.xml><?xml version="1.0" encoding="utf-8"?>
<p:tagLst xmlns:p="http://schemas.openxmlformats.org/presentationml/2006/main">
  <p:tag name="KSO_WM_DIAGRAM_VIRTUALLY_FRAME" val="{&quot;height&quot;:360,&quot;left&quot;:511.2,&quot;top&quot;:111.6,&quot;width&quot;:388.8}"/>
</p:tagLst>
</file>

<file path=ppt/tags/tag11.xml><?xml version="1.0" encoding="utf-8"?>
<p:tagLst xmlns:p="http://schemas.openxmlformats.org/presentationml/2006/main">
  <p:tag name="KSO_WM_DIAGRAM_VIRTUALLY_FRAME" val="{&quot;height&quot;:360,&quot;left&quot;:511.2,&quot;top&quot;:111.6,&quot;width&quot;:388.8}"/>
</p:tagLst>
</file>

<file path=ppt/tags/tag12.xml><?xml version="1.0" encoding="utf-8"?>
<p:tagLst xmlns:p="http://schemas.openxmlformats.org/presentationml/2006/main">
  <p:tag name="KSO_WM_DIAGRAM_VIRTUALLY_FRAME" val="{&quot;height&quot;:360,&quot;left&quot;:511.2,&quot;top&quot;:111.6,&quot;width&quot;:388.8}"/>
</p:tagLst>
</file>

<file path=ppt/tags/tag13.xml><?xml version="1.0" encoding="utf-8"?>
<p:tagLst xmlns:p="http://schemas.openxmlformats.org/presentationml/2006/main">
  <p:tag name="KSO_WM_DIAGRAM_VIRTUALLY_FRAME" val="{&quot;height&quot;:360,&quot;left&quot;:511.2,&quot;top&quot;:111.6,&quot;width&quot;:388.8}"/>
</p:tagLst>
</file>

<file path=ppt/tags/tag14.xml><?xml version="1.0" encoding="utf-8"?>
<p:tagLst xmlns:p="http://schemas.openxmlformats.org/presentationml/2006/main">
  <p:tag name="KSO_WM_DIAGRAM_VIRTUALLY_FRAME" val="{&quot;height&quot;:360,&quot;left&quot;:511.2,&quot;top&quot;:111.6,&quot;width&quot;:388.8}"/>
</p:tagLst>
</file>

<file path=ppt/tags/tag15.xml><?xml version="1.0" encoding="utf-8"?>
<p:tagLst xmlns:p="http://schemas.openxmlformats.org/presentationml/2006/main">
  <p:tag name="KSO_WM_DIAGRAM_VIRTUALLY_FRAME" val="{&quot;height&quot;:381.6,&quot;left&quot;:50.4,&quot;top&quot;:104.4,&quot;width&quot;:859.1759842519684}"/>
</p:tagLst>
</file>

<file path=ppt/tags/tag16.xml><?xml version="1.0" encoding="utf-8"?>
<p:tagLst xmlns:p="http://schemas.openxmlformats.org/presentationml/2006/main">
  <p:tag name="KSO_WM_DIAGRAM_VIRTUALLY_FRAME" val="{&quot;height&quot;:381.6,&quot;left&quot;:50.4,&quot;top&quot;:104.4,&quot;width&quot;:859.1759842519684}"/>
</p:tagLst>
</file>

<file path=ppt/tags/tag17.xml><?xml version="1.0" encoding="utf-8"?>
<p:tagLst xmlns:p="http://schemas.openxmlformats.org/presentationml/2006/main">
  <p:tag name="KSO_WM_DIAGRAM_VIRTUALLY_FRAME" val="{&quot;height&quot;:381.6,&quot;left&quot;:50.4,&quot;top&quot;:104.4,&quot;width&quot;:859.1759842519684}"/>
</p:tagLst>
</file>

<file path=ppt/tags/tag18.xml><?xml version="1.0" encoding="utf-8"?>
<p:tagLst xmlns:p="http://schemas.openxmlformats.org/presentationml/2006/main">
  <p:tag name="KSO_WM_DIAGRAM_VIRTUALLY_FRAME" val="{&quot;height&quot;:381.6,&quot;left&quot;:50.4,&quot;top&quot;:104.4,&quot;width&quot;:859.1759842519684}"/>
</p:tagLst>
</file>

<file path=ppt/tags/tag19.xml><?xml version="1.0" encoding="utf-8"?>
<p:tagLst xmlns:p="http://schemas.openxmlformats.org/presentationml/2006/main">
  <p:tag name="KSO_WM_DIAGRAM_VIRTUALLY_FRAME" val="{&quot;height&quot;:381.6,&quot;left&quot;:50.4,&quot;top&quot;:104.4,&quot;width&quot;:859.1759842519684}"/>
</p:tagLst>
</file>

<file path=ppt/tags/tag20.xml><?xml version="1.0" encoding="utf-8"?>
<p:tagLst xmlns:p="http://schemas.openxmlformats.org/presentationml/2006/main">
  <p:tag name="KSO_WM_DIAGRAM_VIRTUALLY_FRAME" val="{&quot;height&quot;:381.6,&quot;left&quot;:50.4,&quot;top&quot;:104.4,&quot;width&quot;:859.1759842519684}"/>
</p:tagLst>
</file>

<file path=ppt/tags/tag21.xml><?xml version="1.0" encoding="utf-8"?>
<p:tagLst xmlns:p="http://schemas.openxmlformats.org/presentationml/2006/main">
  <p:tag name="KSO_WM_DIAGRAM_VIRTUALLY_FRAME" val="{&quot;height&quot;:381.6,&quot;left&quot;:50.4,&quot;top&quot;:104.4,&quot;width&quot;:859.1759842519684}"/>
</p:tagLst>
</file>

<file path=ppt/tags/tag22.xml><?xml version="1.0" encoding="utf-8"?>
<p:tagLst xmlns:p="http://schemas.openxmlformats.org/presentationml/2006/main">
  <p:tag name="KSO_WM_DIAGRAM_VIRTUALLY_FRAME" val="{&quot;height&quot;:381.6,&quot;left&quot;:50.4,&quot;top&quot;:104.4,&quot;width&quot;:859.1759842519684}"/>
</p:tagLst>
</file>

<file path=ppt/tags/tag23.xml><?xml version="1.0" encoding="utf-8"?>
<p:tagLst xmlns:p="http://schemas.openxmlformats.org/presentationml/2006/main">
  <p:tag name="KSO_WM_DIAGRAM_VIRTUALLY_FRAME" val="{&quot;height&quot;:381.6,&quot;left&quot;:50.4,&quot;top&quot;:104.4,&quot;width&quot;:859.1759842519684}"/>
</p:tagLst>
</file>

<file path=ppt/tags/tag24.xml><?xml version="1.0" encoding="utf-8"?>
<p:tagLst xmlns:p="http://schemas.openxmlformats.org/presentationml/2006/main">
  <p:tag name="KSO_WM_DIAGRAM_VIRTUALLY_FRAME" val="{&quot;height&quot;:381.6,&quot;left&quot;:50.4,&quot;top&quot;:104.4,&quot;width&quot;:859.1759842519684}"/>
</p:tagLst>
</file>

<file path=ppt/tags/tag25.xml><?xml version="1.0" encoding="utf-8"?>
<p:tagLst xmlns:p="http://schemas.openxmlformats.org/presentationml/2006/main">
  <p:tag name="KSO_WM_DIAGRAM_VIRTUALLY_FRAME" val="{&quot;height&quot;:381.6,&quot;left&quot;:50.4,&quot;top&quot;:104.4,&quot;width&quot;:859.1759842519684}"/>
</p:tagLst>
</file>

<file path=ppt/tags/tag26.xml><?xml version="1.0" encoding="utf-8"?>
<p:tagLst xmlns:p="http://schemas.openxmlformats.org/presentationml/2006/main">
  <p:tag name="KSO_WM_DIAGRAM_VIRTUALLY_FRAME" val="{&quot;height&quot;:381.6,&quot;left&quot;:50.4,&quot;top&quot;:104.4,&quot;width&quot;:859.1759842519684}"/>
</p:tagLst>
</file>

<file path=ppt/tags/tag27.xml><?xml version="1.0" encoding="utf-8"?>
<p:tagLst xmlns:p="http://schemas.openxmlformats.org/presentationml/2006/main">
  <p:tag name="TABLE_ENDDRAG_ORIGIN_RECT" val="859*377"/>
  <p:tag name="TABLE_ENDDRAG_RECT" val="50*97*859*377"/>
</p:tagLst>
</file>

<file path=ppt/tags/tag28.xml><?xml version="1.0" encoding="utf-8"?>
<p:tagLst xmlns:p="http://schemas.openxmlformats.org/presentationml/2006/main">
  <p:tag name="TABLE_ENDDRAG_ORIGIN_RECT" val="446*237"/>
  <p:tag name="TABLE_ENDDRAG_RECT" val="50*126*446*23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3404</Words>
  <Application>WPS 演示</Application>
  <PresentationFormat>On-screen Show (16:9)</PresentationFormat>
  <Paragraphs>272</Paragraphs>
  <Slides>11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lzyo</cp:lastModifiedBy>
  <cp:revision>64</cp:revision>
  <dcterms:created xsi:type="dcterms:W3CDTF">2026-03-01T18:38:00Z</dcterms:created>
  <dcterms:modified xsi:type="dcterms:W3CDTF">2026-03-03T06:54:18Z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53D655A8E5BF4835B2C0EAFDB06D0DDF_13</vt:lpwstr>
  </property>
  <property fmtid="{D5CDD505-2E9C-101B-9397-08002B2CF9AE}" pid="3" name="KSOProductBuildVer">
    <vt:lpwstr>2052-12.1.0.19302</vt:lpwstr>
  </property>
</Properties>
</file>